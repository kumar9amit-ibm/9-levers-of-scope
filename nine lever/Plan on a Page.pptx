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ABC7B-E55E-41F8-B1B9-6666F963D0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2F0C-B55C-4DA3-B5DA-D01782D15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B1FA4-E346-7B47-BC18-ABEB25C93E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11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12192000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34" y="155576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BBD7249-AAC3-8F37-8240-2465ECC17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F8BFA1C-9C4C-1BDD-8A87-B8D6EF2B91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3003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rgbClr val="5151C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81547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79903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81490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904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A534580F-801C-5CF3-B949-45907CA9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en-US" kern="0" dirty="0">
              <a:solidFill>
                <a:schemeClr val="bg1">
                  <a:lumMod val="50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8630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024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6449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287588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478911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562985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570413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763323"/>
            <a:ext cx="2475383" cy="1334265"/>
          </a:xfrm>
        </p:spPr>
        <p:txBody>
          <a:bodyPr/>
          <a:lstStyle>
            <a:lvl1pPr>
              <a:lnSpc>
                <a:spcPct val="90000"/>
              </a:lnSpc>
              <a:defRPr sz="6599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835205"/>
            <a:ext cx="3809504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5305827-DC36-E60A-64A9-3D5FBDAA8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683021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86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903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17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2506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92F64F3-69DD-15CA-123F-841742A49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32724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4 columns, short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86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rgbClr val="5151C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92F64F3-69DD-15CA-123F-841742A49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658072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4" y="192024"/>
            <a:ext cx="2470717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5159823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143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45" y="1524000"/>
            <a:ext cx="5047593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A08EA431-5756-02DE-3017-8CDE79F85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7051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192024"/>
            <a:ext cx="5517527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2507" y="288036"/>
            <a:ext cx="2474590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36"/>
            <a:ext cx="2470622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92B9652-00BD-4FC8-BC30-ABDC2DAD9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303111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192024"/>
            <a:ext cx="5519019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2506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accent2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89A49F6-639A-0B6B-1628-D655D296A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8540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288036"/>
            <a:ext cx="2474591" cy="1997964"/>
          </a:xfrm>
        </p:spPr>
        <p:txBody>
          <a:bodyPr rIns="0"/>
          <a:lstStyle>
            <a:lvl1pPr>
              <a:lnSpc>
                <a:spcPct val="110000"/>
              </a:lnSpc>
              <a:defRPr sz="14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2506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2506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071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097F5AF-D300-6D1F-678D-DED13EB6E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896396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9117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762000"/>
            <a:ext cx="2473892" cy="1524000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3268" y="288037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2506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4A9C9DD-BDC8-90B6-374B-4373C5017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21809237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192024"/>
            <a:ext cx="5517779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215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13EA8E8-28EA-F9F8-C648-B4BDAA621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44141052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774" y="288036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09" y="288036"/>
            <a:ext cx="2472210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774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0" y="3336925"/>
            <a:ext cx="2472209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9268B9CF-11F2-3051-21DC-935FCC269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376193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1173" y="1520825"/>
            <a:ext cx="247313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904" y="1520825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8037"/>
            <a:ext cx="5519908" cy="58095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95F346A-F58E-FB42-4D81-1B76B49E4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B21A83-A2A9-BFF2-C04F-B2E0A8DE08A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52436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rgbClr val="5151C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78881" y="6475769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874DF93-48FC-98A3-F524-C4A6E4972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513812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 descr="Place imagery here">
            <a:extLst>
              <a:ext uri="{FF2B5EF4-FFF2-40B4-BE49-F238E27FC236}">
                <a16:creationId xmlns:a16="http://schemas.microsoft.com/office/drawing/2014/main" id="{AFADB541-FCD1-3074-BA59-91A293F5E6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01F9D2-502E-7D22-21E3-29DF06E6A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58858-AC05-8A30-33CB-45F8FF31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kern="0" dirty="0"/>
              <a:t>Pearson | IBM CONFIDENTIAL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EA7B3C1-C644-06C7-45FA-D62F50DEDC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766" y1="45516" x2="32766" y2="45516"/>
                        <a14:foregroundMark x1="43633" y1="70628" x2="43633" y2="70628"/>
                        <a14:foregroundMark x1="52302" y1="68049" x2="52302" y2="68049"/>
                        <a14:foregroundMark x1="65906" y1="65583" x2="65906" y2="65583"/>
                        <a14:foregroundMark x1="75529" y1="65583" x2="75529" y2="65583"/>
                        <a14:foregroundMark x1="80174" y1="61435" x2="80174" y2="61435"/>
                        <a14:foregroundMark x1="13563" y1="52242" x2="13563" y2="52242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882" y="6294877"/>
            <a:ext cx="1250770" cy="46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306EED38-23E5-A4EE-418F-A4918B8EA7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21057" t="30308" r="16533" b="29346"/>
          <a:stretch>
            <a:fillRect/>
          </a:stretch>
        </p:blipFill>
        <p:spPr>
          <a:xfrm>
            <a:off x="10909928" y="6350953"/>
            <a:ext cx="732408" cy="315168"/>
          </a:xfrm>
          <a:prstGeom prst="rect">
            <a:avLst/>
          </a:prstGeom>
        </p:spPr>
      </p:pic>
      <p:pic>
        <p:nvPicPr>
          <p:cNvPr id="2" name="Picture Placeholder 5" descr="A blue background with white lines&#10;&#10;AI-generated content may be incorrect.">
            <a:extLst>
              <a:ext uri="{FF2B5EF4-FFF2-40B4-BE49-F238E27FC236}">
                <a16:creationId xmlns:a16="http://schemas.microsoft.com/office/drawing/2014/main" id="{C272C867-31C1-B7FB-DF29-5F4DD19C13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t="7" b="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374958517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F30C6E-1FE3-7544-7330-CCC5C0EFBCE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7DDBB2C-C533-D475-6183-7FD7DFE0E8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018" b="74327" l="13231" r="87350">
                        <a14:foregroundMark x1="33015" y1="57848" x2="33015" y2="57848"/>
                        <a14:foregroundMark x1="33015" y1="57848" x2="33015" y2="57848"/>
                        <a14:foregroundMark x1="40274" y1="55942" x2="40274" y2="55942"/>
                        <a14:foregroundMark x1="40274" y1="55942" x2="40274" y2="55942"/>
                        <a14:foregroundMark x1="52800" y1="56502" x2="52800" y2="56502"/>
                        <a14:foregroundMark x1="65118" y1="63117" x2="65118" y2="63117"/>
                        <a14:foregroundMark x1="65118" y1="63117" x2="65118" y2="63117"/>
                        <a14:foregroundMark x1="70925" y1="66368" x2="70925" y2="66368"/>
                        <a14:foregroundMark x1="70925" y1="66368" x2="70925" y2="66368"/>
                        <a14:foregroundMark x1="80340" y1="66928" x2="80340" y2="66928"/>
                        <a14:foregroundMark x1="80340" y1="66928" x2="80340" y2="66928"/>
                        <a14:foregroundMark x1="87350" y1="52578" x2="87350" y2="52578"/>
                        <a14:foregroundMark x1="87350" y1="52578" x2="87350" y2="52578"/>
                        <a14:foregroundMark x1="13231" y1="49327" x2="13231" y2="49327"/>
                        <a14:foregroundMark x1="13231" y1="49327" x2="13231" y2="49327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27" t="21307" r="7356" b="19586"/>
          <a:stretch>
            <a:fillRect/>
          </a:stretch>
        </p:blipFill>
        <p:spPr bwMode="auto">
          <a:xfrm>
            <a:off x="2095228" y="2578101"/>
            <a:ext cx="4457120" cy="115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178EA3CE-B555-B796-B16D-B87774EFB1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21057" t="30308" r="16533" b="29346"/>
          <a:stretch>
            <a:fillRect/>
          </a:stretch>
        </p:blipFill>
        <p:spPr>
          <a:xfrm>
            <a:off x="6939348" y="2772739"/>
            <a:ext cx="2221417" cy="9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5460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13" b="0" i="0">
                <a:solidFill>
                  <a:schemeClr val="tx1"/>
                </a:solidFill>
                <a:latin typeface="IBM Plex Sans Light"/>
                <a:cs typeface="IBM Plex Sans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88" b="0" i="0">
                <a:solidFill>
                  <a:schemeClr val="tx1"/>
                </a:solidFill>
                <a:latin typeface="IBM Plex Sans"/>
                <a:cs typeface="IBM Plex Sans"/>
              </a:defRPr>
            </a:lvl1pPr>
          </a:lstStyle>
          <a:p>
            <a:pPr marL="7699">
              <a:spcBef>
                <a:spcPts val="79"/>
              </a:spcBef>
            </a:pPr>
            <a:r>
              <a:rPr lang="en-US"/>
              <a:t>IBM</a:t>
            </a:r>
            <a:r>
              <a:rPr lang="en-US" spc="36"/>
              <a:t> </a:t>
            </a:r>
            <a:r>
              <a:rPr lang="en-US"/>
              <a:t>Consulting</a:t>
            </a:r>
            <a:r>
              <a:rPr lang="en-US" spc="39"/>
              <a:t> </a:t>
            </a:r>
            <a:r>
              <a:rPr lang="en-US"/>
              <a:t>©</a:t>
            </a:r>
            <a:r>
              <a:rPr lang="en-US" spc="-6"/>
              <a:t> </a:t>
            </a:r>
            <a:r>
              <a:rPr lang="en-US"/>
              <a:t>2024</a:t>
            </a:r>
            <a:r>
              <a:rPr lang="en-US" spc="18"/>
              <a:t> </a:t>
            </a:r>
            <a:r>
              <a:rPr lang="en-US"/>
              <a:t>IBM </a:t>
            </a:r>
            <a:r>
              <a:rPr lang="en-US" spc="-6"/>
              <a:t>Corporation</a:t>
            </a:r>
            <a:endParaRPr lang="en-US" spc="-6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81949" y="3178232"/>
            <a:ext cx="269626" cy="121252"/>
          </a:xfrm>
        </p:spPr>
        <p:txBody>
          <a:bodyPr lIns="0" tIns="0" rIns="0" bIns="0"/>
          <a:lstStyle>
            <a:lvl1pPr>
              <a:defRPr sz="788" b="0" i="0">
                <a:solidFill>
                  <a:schemeClr val="tx1"/>
                </a:solidFill>
                <a:latin typeface="IBM Plex Sans"/>
                <a:cs typeface="IBM Plex Sans"/>
              </a:defRPr>
            </a:lvl1pPr>
          </a:lstStyle>
          <a:p>
            <a:pPr marL="146680">
              <a:spcBef>
                <a:spcPts val="79"/>
              </a:spcBef>
            </a:pPr>
            <a:fld id="{81D60167-4931-47E6-BA6A-407CBD079E47}" type="slidenum">
              <a:rPr lang="en-GB" spc="-30" smtClean="0"/>
              <a:pPr marL="146680">
                <a:spcBef>
                  <a:spcPts val="79"/>
                </a:spcBef>
              </a:pPr>
              <a:t>‹#›</a:t>
            </a:fld>
            <a:endParaRPr lang="en-GB" spc="-30" dirty="0"/>
          </a:p>
        </p:txBody>
      </p:sp>
    </p:spTree>
    <p:extLst>
      <p:ext uri="{BB962C8B-B14F-4D97-AF65-F5344CB8AC3E}">
        <p14:creationId xmlns:p14="http://schemas.microsoft.com/office/powerpoint/2010/main" val="2755922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A4B48-D3A2-1625-F567-495E08B6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0BD7-1D7F-CB48-B3C3-A5C82B63E0E3}" type="datetime1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0E8B6-ED7A-F820-DD49-26CEA5FA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E2146-AB57-EE7C-9BB8-2E53B029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2D4D-A529-434A-8809-1CEA01529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7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8881" y="6475857"/>
            <a:ext cx="125819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699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474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kern="0" dirty="0">
                <a:solidFill>
                  <a:schemeClr val="accent2"/>
                </a:solidFill>
              </a:rPr>
              <a:t>Pearson</a:t>
            </a:r>
            <a:r>
              <a:rPr lang="en-US" kern="0" dirty="0">
                <a:solidFill>
                  <a:srgbClr val="9519EF"/>
                </a:solidFill>
              </a:rPr>
              <a:t> </a:t>
            </a:r>
            <a:r>
              <a:rPr lang="en-US" kern="0" dirty="0"/>
              <a:t>| </a:t>
            </a:r>
            <a:r>
              <a:rPr lang="en-US" kern="0" dirty="0">
                <a:solidFill>
                  <a:srgbClr val="0F62FE"/>
                </a:solidFill>
              </a:rPr>
              <a:t>IBM</a:t>
            </a:r>
            <a:r>
              <a:rPr lang="en-US" kern="0" dirty="0"/>
              <a:t> 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163DB6FE-E8F0-502D-8518-A19522D5ACB4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852773" y="7638453"/>
            <a:ext cx="61427" cy="228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6007D11-E44E-6A61-5E04-596A87896B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882" y="6294877"/>
            <a:ext cx="1250770" cy="46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F52CCA79-3CE2-2889-0668-01B422377A1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biLevel thresh="50000"/>
          </a:blip>
          <a:srcRect l="21057" t="30308" r="16533" b="29346"/>
          <a:stretch>
            <a:fillRect/>
          </a:stretch>
        </p:blipFill>
        <p:spPr>
          <a:xfrm>
            <a:off x="10913103" y="6419850"/>
            <a:ext cx="528108" cy="22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IBM Plex Sans" panose="020B0503050203000203" pitchFamily="34" charset="0"/>
          <a:ea typeface="+mj-ea"/>
          <a:cs typeface="+mj-cs"/>
          <a:sym typeface="Arial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Arial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Arial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Arial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Arial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CA21C-A2CC-B98A-7F1A-A98624CE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1A5C73-C2DC-37A1-564D-6194F306F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73" y="193022"/>
            <a:ext cx="3174590" cy="465661"/>
          </a:xfrm>
        </p:spPr>
        <p:txBody>
          <a:bodyPr/>
          <a:lstStyle/>
          <a:p>
            <a:r>
              <a:rPr lang="en-US" sz="2999" dirty="0"/>
              <a:t>Plan on a Page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86D28-864D-45F9-4CAD-3B30786ADEB7}"/>
              </a:ext>
            </a:extLst>
          </p:cNvPr>
          <p:cNvSpPr txBox="1"/>
          <p:nvPr/>
        </p:nvSpPr>
        <p:spPr>
          <a:xfrm>
            <a:off x="3048336" y="413631"/>
            <a:ext cx="4290088" cy="50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222188" marR="0" lvl="0" indent="-223330" algn="l" defTabSz="1218956" rtl="0" eaLnBrk="1" fontAlgn="auto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IBM Plex Sans Light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03EC2DE-DC1C-C12B-B2D1-1E60F9C0E154}"/>
              </a:ext>
            </a:extLst>
          </p:cNvPr>
          <p:cNvSpPr txBox="1"/>
          <p:nvPr/>
        </p:nvSpPr>
        <p:spPr>
          <a:xfrm>
            <a:off x="1182007" y="6631637"/>
            <a:ext cx="8510678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/>
                <a:sym typeface="Arial"/>
              </a:rPr>
              <a:t>CRP – </a:t>
            </a: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Conference Room Pilot   </a:t>
            </a: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/>
                <a:sym typeface="Arial"/>
              </a:rPr>
              <a:t>|   CNV – </a:t>
            </a: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Conversion Cycles  </a:t>
            </a: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/>
                <a:sym typeface="Arial"/>
              </a:rPr>
              <a:t>|     TTT – Train The Trainer   |    SIT – System Integration Testing |    UAT – User Acceptance Testing </a:t>
            </a:r>
          </a:p>
        </p:txBody>
      </p:sp>
      <p:graphicFrame>
        <p:nvGraphicFramePr>
          <p:cNvPr id="214" name="Table 3">
            <a:extLst>
              <a:ext uri="{FF2B5EF4-FFF2-40B4-BE49-F238E27FC236}">
                <a16:creationId xmlns:a16="http://schemas.microsoft.com/office/drawing/2014/main" id="{F9C87A13-8F94-50DB-0548-C807B534086E}"/>
              </a:ext>
            </a:extLst>
          </p:cNvPr>
          <p:cNvGraphicFramePr>
            <a:graphicFrameLocks noGrp="1"/>
          </p:cNvGraphicFramePr>
          <p:nvPr/>
        </p:nvGraphicFramePr>
        <p:xfrm>
          <a:off x="1116437" y="780863"/>
          <a:ext cx="8576250" cy="5831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65">
                  <a:extLst>
                    <a:ext uri="{9D8B030D-6E8A-4147-A177-3AD203B41FA5}">
                      <a16:colId xmlns:a16="http://schemas.microsoft.com/office/drawing/2014/main" val="1048534369"/>
                    </a:ext>
                  </a:extLst>
                </a:gridCol>
                <a:gridCol w="361965">
                  <a:extLst>
                    <a:ext uri="{9D8B030D-6E8A-4147-A177-3AD203B41FA5}">
                      <a16:colId xmlns:a16="http://schemas.microsoft.com/office/drawing/2014/main" val="1315654461"/>
                    </a:ext>
                  </a:extLst>
                </a:gridCol>
                <a:gridCol w="361965">
                  <a:extLst>
                    <a:ext uri="{9D8B030D-6E8A-4147-A177-3AD203B41FA5}">
                      <a16:colId xmlns:a16="http://schemas.microsoft.com/office/drawing/2014/main" val="2343645353"/>
                    </a:ext>
                  </a:extLst>
                </a:gridCol>
                <a:gridCol w="387193">
                  <a:extLst>
                    <a:ext uri="{9D8B030D-6E8A-4147-A177-3AD203B41FA5}">
                      <a16:colId xmlns:a16="http://schemas.microsoft.com/office/drawing/2014/main" val="1186497396"/>
                    </a:ext>
                  </a:extLst>
                </a:gridCol>
                <a:gridCol w="364099">
                  <a:extLst>
                    <a:ext uri="{9D8B030D-6E8A-4147-A177-3AD203B41FA5}">
                      <a16:colId xmlns:a16="http://schemas.microsoft.com/office/drawing/2014/main" val="3699351954"/>
                    </a:ext>
                  </a:extLst>
                </a:gridCol>
                <a:gridCol w="417588">
                  <a:extLst>
                    <a:ext uri="{9D8B030D-6E8A-4147-A177-3AD203B41FA5}">
                      <a16:colId xmlns:a16="http://schemas.microsoft.com/office/drawing/2014/main" val="2462175050"/>
                    </a:ext>
                  </a:extLst>
                </a:gridCol>
                <a:gridCol w="410441">
                  <a:extLst>
                    <a:ext uri="{9D8B030D-6E8A-4147-A177-3AD203B41FA5}">
                      <a16:colId xmlns:a16="http://schemas.microsoft.com/office/drawing/2014/main" val="3778879375"/>
                    </a:ext>
                  </a:extLst>
                </a:gridCol>
                <a:gridCol w="362700">
                  <a:extLst>
                    <a:ext uri="{9D8B030D-6E8A-4147-A177-3AD203B41FA5}">
                      <a16:colId xmlns:a16="http://schemas.microsoft.com/office/drawing/2014/main" val="1793310666"/>
                    </a:ext>
                  </a:extLst>
                </a:gridCol>
                <a:gridCol w="396157">
                  <a:extLst>
                    <a:ext uri="{9D8B030D-6E8A-4147-A177-3AD203B41FA5}">
                      <a16:colId xmlns:a16="http://schemas.microsoft.com/office/drawing/2014/main" val="2154140451"/>
                    </a:ext>
                  </a:extLst>
                </a:gridCol>
                <a:gridCol w="361728">
                  <a:extLst>
                    <a:ext uri="{9D8B030D-6E8A-4147-A177-3AD203B41FA5}">
                      <a16:colId xmlns:a16="http://schemas.microsoft.com/office/drawing/2014/main" val="1108956045"/>
                    </a:ext>
                  </a:extLst>
                </a:gridCol>
                <a:gridCol w="364063">
                  <a:extLst>
                    <a:ext uri="{9D8B030D-6E8A-4147-A177-3AD203B41FA5}">
                      <a16:colId xmlns:a16="http://schemas.microsoft.com/office/drawing/2014/main" val="4008935310"/>
                    </a:ext>
                  </a:extLst>
                </a:gridCol>
                <a:gridCol w="383268">
                  <a:extLst>
                    <a:ext uri="{9D8B030D-6E8A-4147-A177-3AD203B41FA5}">
                      <a16:colId xmlns:a16="http://schemas.microsoft.com/office/drawing/2014/main" val="118525701"/>
                    </a:ext>
                  </a:extLst>
                </a:gridCol>
                <a:gridCol w="445210">
                  <a:extLst>
                    <a:ext uri="{9D8B030D-6E8A-4147-A177-3AD203B41FA5}">
                      <a16:colId xmlns:a16="http://schemas.microsoft.com/office/drawing/2014/main" val="1845557548"/>
                    </a:ext>
                  </a:extLst>
                </a:gridCol>
                <a:gridCol w="392487">
                  <a:extLst>
                    <a:ext uri="{9D8B030D-6E8A-4147-A177-3AD203B41FA5}">
                      <a16:colId xmlns:a16="http://schemas.microsoft.com/office/drawing/2014/main" val="3617628192"/>
                    </a:ext>
                  </a:extLst>
                </a:gridCol>
                <a:gridCol w="363197">
                  <a:extLst>
                    <a:ext uri="{9D8B030D-6E8A-4147-A177-3AD203B41FA5}">
                      <a16:colId xmlns:a16="http://schemas.microsoft.com/office/drawing/2014/main" val="2535867823"/>
                    </a:ext>
                  </a:extLst>
                </a:gridCol>
                <a:gridCol w="392487">
                  <a:extLst>
                    <a:ext uri="{9D8B030D-6E8A-4147-A177-3AD203B41FA5}">
                      <a16:colId xmlns:a16="http://schemas.microsoft.com/office/drawing/2014/main" val="105594680"/>
                    </a:ext>
                  </a:extLst>
                </a:gridCol>
                <a:gridCol w="445210">
                  <a:extLst>
                    <a:ext uri="{9D8B030D-6E8A-4147-A177-3AD203B41FA5}">
                      <a16:colId xmlns:a16="http://schemas.microsoft.com/office/drawing/2014/main" val="1921788253"/>
                    </a:ext>
                  </a:extLst>
                </a:gridCol>
                <a:gridCol w="435439">
                  <a:extLst>
                    <a:ext uri="{9D8B030D-6E8A-4147-A177-3AD203B41FA5}">
                      <a16:colId xmlns:a16="http://schemas.microsoft.com/office/drawing/2014/main" val="1763161537"/>
                    </a:ext>
                  </a:extLst>
                </a:gridCol>
                <a:gridCol w="366151">
                  <a:extLst>
                    <a:ext uri="{9D8B030D-6E8A-4147-A177-3AD203B41FA5}">
                      <a16:colId xmlns:a16="http://schemas.microsoft.com/office/drawing/2014/main" val="3502806720"/>
                    </a:ext>
                  </a:extLst>
                </a:gridCol>
                <a:gridCol w="456820">
                  <a:extLst>
                    <a:ext uri="{9D8B030D-6E8A-4147-A177-3AD203B41FA5}">
                      <a16:colId xmlns:a16="http://schemas.microsoft.com/office/drawing/2014/main" val="683502726"/>
                    </a:ext>
                  </a:extLst>
                </a:gridCol>
                <a:gridCol w="381991">
                  <a:extLst>
                    <a:ext uri="{9D8B030D-6E8A-4147-A177-3AD203B41FA5}">
                      <a16:colId xmlns:a16="http://schemas.microsoft.com/office/drawing/2014/main" val="1618282666"/>
                    </a:ext>
                  </a:extLst>
                </a:gridCol>
                <a:gridCol w="364126">
                  <a:extLst>
                    <a:ext uri="{9D8B030D-6E8A-4147-A177-3AD203B41FA5}">
                      <a16:colId xmlns:a16="http://schemas.microsoft.com/office/drawing/2014/main" val="2521748413"/>
                    </a:ext>
                  </a:extLst>
                </a:gridCol>
              </a:tblGrid>
              <a:tr h="37295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91428" marR="91428" marT="45714" marB="457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91428" marR="91428" marT="45714" marB="457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91428" marR="91428" marT="45714" marB="457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2027</a:t>
                      </a:r>
                    </a:p>
                  </a:txBody>
                  <a:tcPr marL="91428" marR="91428" marT="45714" marB="45714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marL="182880" marR="182880" marT="91440" marB="9144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/>
                      <a:r>
                        <a:rPr lang="en-IN" sz="800" b="1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2028</a:t>
                      </a:r>
                    </a:p>
                  </a:txBody>
                  <a:tcPr marL="91428" marR="91428" marT="45714" marB="45714" anchor="ctr"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/>
                      <a:endParaRPr lang="en-IN" sz="1600" b="1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/>
                      <a:endParaRPr lang="en-IN" sz="1600" b="1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/>
                      <a:endParaRPr lang="en-IN" sz="1600" b="1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/>
                      <a:endParaRPr lang="en-IN" sz="1600" b="1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/>
                      <a:endParaRPr lang="en-IN" sz="1600" b="1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32678"/>
                  </a:ext>
                </a:extLst>
              </a:tr>
              <a:tr h="363568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SEP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OCT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NOV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DEC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JAN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FEB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MAR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APR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MAY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JUN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JUL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AUG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SEP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OCT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NOV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DEC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JAN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FEB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MAR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APR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MAY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IBM Plex Sans" panose="020B0503050203000203" pitchFamily="34" charset="0"/>
                        </a:rPr>
                        <a:t>JUN</a:t>
                      </a:r>
                    </a:p>
                  </a:txBody>
                  <a:tcPr marL="91428" marR="91428" marT="45714" marB="45714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93331"/>
                  </a:ext>
                </a:extLst>
              </a:tr>
              <a:tr h="3995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664531"/>
                  </a:ext>
                </a:extLst>
              </a:tr>
              <a:tr h="74015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 </a:t>
                      </a:r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 </a:t>
                      </a:r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488582"/>
                  </a:ext>
                </a:extLst>
              </a:tr>
              <a:tr h="74284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05853"/>
                  </a:ext>
                </a:extLst>
              </a:tr>
              <a:tr h="78439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242406"/>
                  </a:ext>
                </a:extLst>
              </a:tr>
              <a:tr h="657914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143803"/>
                  </a:ext>
                </a:extLst>
              </a:tr>
              <a:tr h="657914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952409"/>
                  </a:ext>
                </a:extLst>
              </a:tr>
              <a:tr h="556185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44336"/>
                  </a:ext>
                </a:extLst>
              </a:tr>
              <a:tr h="556185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28" marR="91428" marT="45714" marB="45714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36583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C75CD85A-C5EB-2D5E-74F9-3C56D5ADB521}"/>
              </a:ext>
            </a:extLst>
          </p:cNvPr>
          <p:cNvSpPr txBox="1"/>
          <p:nvPr/>
        </p:nvSpPr>
        <p:spPr>
          <a:xfrm>
            <a:off x="7315222" y="3420840"/>
            <a:ext cx="7353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Times New Roman" charset="0"/>
              </a:rPr>
              <a:t>Go Live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C984597-92C8-1221-902E-BF17738020B9}"/>
              </a:ext>
            </a:extLst>
          </p:cNvPr>
          <p:cNvSpPr txBox="1"/>
          <p:nvPr/>
        </p:nvSpPr>
        <p:spPr>
          <a:xfrm>
            <a:off x="7319843" y="1521027"/>
            <a:ext cx="6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Times New Roman" charset="0"/>
              </a:rPr>
              <a:t>Go Live</a:t>
            </a:r>
          </a:p>
        </p:txBody>
      </p: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16009EA-F7CA-6359-7805-D6BE3F2D8A5A}"/>
              </a:ext>
            </a:extLst>
          </p:cNvPr>
          <p:cNvCxnSpPr>
            <a:cxnSpLocks/>
          </p:cNvCxnSpPr>
          <p:nvPr/>
        </p:nvCxnSpPr>
        <p:spPr>
          <a:xfrm>
            <a:off x="5517536" y="2581793"/>
            <a:ext cx="578464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C15B0EB8-DA14-1511-6779-C8ADFA952B95}"/>
              </a:ext>
            </a:extLst>
          </p:cNvPr>
          <p:cNvSpPr txBox="1"/>
          <p:nvPr/>
        </p:nvSpPr>
        <p:spPr>
          <a:xfrm>
            <a:off x="4990987" y="2090981"/>
            <a:ext cx="83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TTT</a:t>
            </a:r>
          </a:p>
        </p:txBody>
      </p:sp>
      <p:sp>
        <p:nvSpPr>
          <p:cNvPr id="220" name="5-Point Star 20">
            <a:extLst>
              <a:ext uri="{FF2B5EF4-FFF2-40B4-BE49-F238E27FC236}">
                <a16:creationId xmlns:a16="http://schemas.microsoft.com/office/drawing/2014/main" id="{ED63EB2D-E4D7-87A6-171F-EBB7C2DD6111}"/>
              </a:ext>
            </a:extLst>
          </p:cNvPr>
          <p:cNvSpPr/>
          <p:nvPr/>
        </p:nvSpPr>
        <p:spPr bwMode="auto">
          <a:xfrm>
            <a:off x="7140443" y="1508669"/>
            <a:ext cx="203135" cy="201183"/>
          </a:xfrm>
          <a:prstGeom prst="star5">
            <a:avLst/>
          </a:prstGeom>
          <a:solidFill>
            <a:schemeClr val="accent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04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IBM Plex Sans" panose="020B0503050203000203" pitchFamily="34" charset="0"/>
              <a:ea typeface="Tahoma" panose="020B0604030504040204" pitchFamily="34" charset="0"/>
              <a:cs typeface="Tahoma" panose="020B0604030504040204" pitchFamily="34" charset="0"/>
              <a:sym typeface="Times New Roman" charset="0"/>
            </a:endParaRPr>
          </a:p>
        </p:txBody>
      </p:sp>
      <p:sp>
        <p:nvSpPr>
          <p:cNvPr id="221" name="5-Point Star 20">
            <a:extLst>
              <a:ext uri="{FF2B5EF4-FFF2-40B4-BE49-F238E27FC236}">
                <a16:creationId xmlns:a16="http://schemas.microsoft.com/office/drawing/2014/main" id="{0E038A38-1251-3F12-92CE-5D93432DED5F}"/>
              </a:ext>
            </a:extLst>
          </p:cNvPr>
          <p:cNvSpPr/>
          <p:nvPr/>
        </p:nvSpPr>
        <p:spPr bwMode="auto">
          <a:xfrm>
            <a:off x="7149546" y="3416534"/>
            <a:ext cx="203135" cy="201183"/>
          </a:xfrm>
          <a:prstGeom prst="star5">
            <a:avLst/>
          </a:prstGeom>
          <a:solidFill>
            <a:schemeClr val="accent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04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7889FB"/>
              </a:solidFill>
              <a:effectLst/>
              <a:uLnTx/>
              <a:uFillTx/>
              <a:latin typeface="IBM Plex Sans" panose="020B0503050203000203" pitchFamily="34" charset="0"/>
              <a:ea typeface="Tahoma" panose="020B0604030504040204" pitchFamily="34" charset="0"/>
              <a:cs typeface="Tahoma" panose="020B0604030504040204" pitchFamily="34" charset="0"/>
              <a:sym typeface="Times New Roman" charset="0"/>
            </a:endParaRPr>
          </a:p>
        </p:txBody>
      </p:sp>
      <p:sp>
        <p:nvSpPr>
          <p:cNvPr id="222" name="Triangle 118">
            <a:extLst>
              <a:ext uri="{FF2B5EF4-FFF2-40B4-BE49-F238E27FC236}">
                <a16:creationId xmlns:a16="http://schemas.microsoft.com/office/drawing/2014/main" id="{7E3C0382-EE61-08BF-0513-980EEDACB037}"/>
              </a:ext>
            </a:extLst>
          </p:cNvPr>
          <p:cNvSpPr/>
          <p:nvPr/>
        </p:nvSpPr>
        <p:spPr>
          <a:xfrm>
            <a:off x="2933163" y="6284849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92251A7-1B3E-76BD-646A-FCA0A4FCE519}"/>
              </a:ext>
            </a:extLst>
          </p:cNvPr>
          <p:cNvSpPr txBox="1"/>
          <p:nvPr/>
        </p:nvSpPr>
        <p:spPr>
          <a:xfrm>
            <a:off x="2619386" y="6416355"/>
            <a:ext cx="83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27 A</a:t>
            </a:r>
          </a:p>
        </p:txBody>
      </p:sp>
      <p:sp>
        <p:nvSpPr>
          <p:cNvPr id="224" name="Triangle 118">
            <a:extLst>
              <a:ext uri="{FF2B5EF4-FFF2-40B4-BE49-F238E27FC236}">
                <a16:creationId xmlns:a16="http://schemas.microsoft.com/office/drawing/2014/main" id="{208A0803-0711-83E9-BAF4-EDB09BAD5968}"/>
              </a:ext>
            </a:extLst>
          </p:cNvPr>
          <p:cNvSpPr/>
          <p:nvPr/>
        </p:nvSpPr>
        <p:spPr>
          <a:xfrm>
            <a:off x="4113306" y="6285228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A05CAAC-3F73-7B6E-E3C4-E39BCDBEA51B}"/>
              </a:ext>
            </a:extLst>
          </p:cNvPr>
          <p:cNvSpPr txBox="1"/>
          <p:nvPr/>
        </p:nvSpPr>
        <p:spPr>
          <a:xfrm>
            <a:off x="3655548" y="6416611"/>
            <a:ext cx="10871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27B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88EFF7F-0ADA-6FF6-1F3D-929703842526}"/>
              </a:ext>
            </a:extLst>
          </p:cNvPr>
          <p:cNvSpPr txBox="1"/>
          <p:nvPr/>
        </p:nvSpPr>
        <p:spPr>
          <a:xfrm>
            <a:off x="1217206" y="6284492"/>
            <a:ext cx="1023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Quarterly  Oracle Releases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Wingdings" panose="05000000000000000000" pitchFamily="2" charset="2"/>
              </a:rPr>
              <a:t>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Times New Roman" charset="0"/>
              <a:sym typeface="Helvetica Neue"/>
            </a:endParaRP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759E846-788A-4344-976D-AF468074B152}"/>
              </a:ext>
            </a:extLst>
          </p:cNvPr>
          <p:cNvGrpSpPr/>
          <p:nvPr/>
        </p:nvGrpSpPr>
        <p:grpSpPr>
          <a:xfrm>
            <a:off x="2988963" y="2041379"/>
            <a:ext cx="690545" cy="478454"/>
            <a:chOff x="3091115" y="2256718"/>
            <a:chExt cx="708858" cy="402079"/>
          </a:xfrm>
        </p:grpSpPr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428E5C19-08FC-40D9-FD52-3FAE24E62621}"/>
                </a:ext>
              </a:extLst>
            </p:cNvPr>
            <p:cNvSpPr txBox="1"/>
            <p:nvPr/>
          </p:nvSpPr>
          <p:spPr>
            <a:xfrm>
              <a:off x="3173576" y="2555338"/>
              <a:ext cx="626397" cy="1034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5501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Times New Roman" charset="0"/>
                  <a:sym typeface="Helvetica Neue"/>
                </a:rPr>
                <a:t>CRP1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4C423DA2-3D7D-7D63-25A4-386A83BBC92F}"/>
                </a:ext>
              </a:extLst>
            </p:cNvPr>
            <p:cNvGrpSpPr/>
            <p:nvPr/>
          </p:nvGrpSpPr>
          <p:grpSpPr>
            <a:xfrm>
              <a:off x="3091115" y="2256718"/>
              <a:ext cx="450404" cy="262149"/>
              <a:chOff x="4721325" y="3524123"/>
              <a:chExt cx="450404" cy="262149"/>
            </a:xfrm>
          </p:grpSpPr>
          <p:sp>
            <p:nvSpPr>
              <p:cNvPr id="230" name="U-Turn Arrow 91">
                <a:extLst>
                  <a:ext uri="{FF2B5EF4-FFF2-40B4-BE49-F238E27FC236}">
                    <a16:creationId xmlns:a16="http://schemas.microsoft.com/office/drawing/2014/main" id="{68590E9F-E103-1D60-C090-494129A5CF3F}"/>
                  </a:ext>
                </a:extLst>
              </p:cNvPr>
              <p:cNvSpPr/>
              <p:nvPr/>
            </p:nvSpPr>
            <p:spPr>
              <a:xfrm rot="5400000">
                <a:off x="4954443" y="3568987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  <p:sp>
            <p:nvSpPr>
              <p:cNvPr id="231" name="U-Turn Arrow 92">
                <a:extLst>
                  <a:ext uri="{FF2B5EF4-FFF2-40B4-BE49-F238E27FC236}">
                    <a16:creationId xmlns:a16="http://schemas.microsoft.com/office/drawing/2014/main" id="{0A612D58-EA52-5ECD-0DFF-D5BB401A7737}"/>
                  </a:ext>
                </a:extLst>
              </p:cNvPr>
              <p:cNvSpPr/>
              <p:nvPr/>
            </p:nvSpPr>
            <p:spPr>
              <a:xfrm rot="16200000">
                <a:off x="4714659" y="3530789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</p:grpSp>
      </p:grpSp>
      <p:sp>
        <p:nvSpPr>
          <p:cNvPr id="240" name="Triangle 118">
            <a:extLst>
              <a:ext uri="{FF2B5EF4-FFF2-40B4-BE49-F238E27FC236}">
                <a16:creationId xmlns:a16="http://schemas.microsoft.com/office/drawing/2014/main" id="{0881C2BD-484C-E7E8-4686-E6FAF30D63F0}"/>
              </a:ext>
            </a:extLst>
          </p:cNvPr>
          <p:cNvSpPr/>
          <p:nvPr/>
        </p:nvSpPr>
        <p:spPr>
          <a:xfrm rot="10800000">
            <a:off x="2481869" y="1572193"/>
            <a:ext cx="153716" cy="128255"/>
          </a:xfrm>
          <a:prstGeom prst="triangle">
            <a:avLst/>
          </a:prstGeom>
          <a:solidFill>
            <a:schemeClr val="accent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6DD6A7F-179E-B0B1-2A7C-6D33D9FE7325}"/>
              </a:ext>
            </a:extLst>
          </p:cNvPr>
          <p:cNvSpPr txBox="1"/>
          <p:nvPr/>
        </p:nvSpPr>
        <p:spPr>
          <a:xfrm>
            <a:off x="2654372" y="1567154"/>
            <a:ext cx="228909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Scope &amp; Timeline Re-evaluation</a:t>
            </a:r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86857865-D49E-3CEF-D8F9-E3C39A4CDD15}"/>
              </a:ext>
            </a:extLst>
          </p:cNvPr>
          <p:cNvCxnSpPr>
            <a:cxnSpLocks/>
          </p:cNvCxnSpPr>
          <p:nvPr/>
        </p:nvCxnSpPr>
        <p:spPr>
          <a:xfrm>
            <a:off x="5300370" y="2270074"/>
            <a:ext cx="255024" cy="0"/>
          </a:xfrm>
          <a:prstGeom prst="line">
            <a:avLst/>
          </a:prstGeom>
          <a:ln w="19050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>
            <a:extLst>
              <a:ext uri="{FF2B5EF4-FFF2-40B4-BE49-F238E27FC236}">
                <a16:creationId xmlns:a16="http://schemas.microsoft.com/office/drawing/2014/main" id="{D48D1EF8-901C-24F7-1A9F-7A38D351944F}"/>
              </a:ext>
            </a:extLst>
          </p:cNvPr>
          <p:cNvSpPr/>
          <p:nvPr/>
        </p:nvSpPr>
        <p:spPr>
          <a:xfrm>
            <a:off x="3699324" y="2906024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AEC7052-6A8E-5273-FE4D-67D045697487}"/>
              </a:ext>
            </a:extLst>
          </p:cNvPr>
          <p:cNvSpPr txBox="1"/>
          <p:nvPr/>
        </p:nvSpPr>
        <p:spPr>
          <a:xfrm>
            <a:off x="3658844" y="3101480"/>
            <a:ext cx="313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CNV1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5011AD1-AEAE-42AC-0C68-C5E2CB2BC453}"/>
              </a:ext>
            </a:extLst>
          </p:cNvPr>
          <p:cNvCxnSpPr>
            <a:cxnSpLocks/>
          </p:cNvCxnSpPr>
          <p:nvPr/>
        </p:nvCxnSpPr>
        <p:spPr>
          <a:xfrm>
            <a:off x="4580187" y="2583308"/>
            <a:ext cx="671487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3A52B5-B96C-6F27-1778-73B25B6BA72C}"/>
              </a:ext>
            </a:extLst>
          </p:cNvPr>
          <p:cNvSpPr txBox="1"/>
          <p:nvPr/>
        </p:nvSpPr>
        <p:spPr>
          <a:xfrm>
            <a:off x="4634297" y="2635304"/>
            <a:ext cx="4815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SIT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9849DAD-5F96-6322-5137-031613DC003E}"/>
              </a:ext>
            </a:extLst>
          </p:cNvPr>
          <p:cNvSpPr txBox="1"/>
          <p:nvPr/>
        </p:nvSpPr>
        <p:spPr>
          <a:xfrm>
            <a:off x="5567000" y="2635304"/>
            <a:ext cx="4815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UAT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A0E7C99A-1653-9CB0-3E0E-E91D599BD451}"/>
              </a:ext>
            </a:extLst>
          </p:cNvPr>
          <p:cNvSpPr txBox="1"/>
          <p:nvPr/>
        </p:nvSpPr>
        <p:spPr>
          <a:xfrm>
            <a:off x="4441495" y="3101443"/>
            <a:ext cx="3441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CNV2	</a:t>
            </a: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3D9AB0D8-95B7-F8F3-7A68-F3C6B296DC36}"/>
              </a:ext>
            </a:extLst>
          </p:cNvPr>
          <p:cNvGrpSpPr/>
          <p:nvPr/>
        </p:nvGrpSpPr>
        <p:grpSpPr>
          <a:xfrm>
            <a:off x="1679878" y="2041265"/>
            <a:ext cx="695773" cy="697839"/>
            <a:chOff x="3055180" y="2256718"/>
            <a:chExt cx="626397" cy="634351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14726EE6-B5E9-0737-FD13-62E0063F7E90}"/>
                </a:ext>
              </a:extLst>
            </p:cNvPr>
            <p:cNvSpPr txBox="1"/>
            <p:nvPr/>
          </p:nvSpPr>
          <p:spPr>
            <a:xfrm>
              <a:off x="3055180" y="2555338"/>
              <a:ext cx="626397" cy="3357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5501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Times New Roman" charset="0"/>
                  <a:sym typeface="Helvetica Neue"/>
                </a:rPr>
                <a:t>Discovery &amp; Process Workshops</a:t>
              </a:r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75677DC7-F036-6EA0-EAB6-F24565304EF5}"/>
                </a:ext>
              </a:extLst>
            </p:cNvPr>
            <p:cNvGrpSpPr/>
            <p:nvPr/>
          </p:nvGrpSpPr>
          <p:grpSpPr>
            <a:xfrm>
              <a:off x="3091115" y="2256718"/>
              <a:ext cx="450404" cy="262149"/>
              <a:chOff x="4721325" y="3524123"/>
              <a:chExt cx="450404" cy="262149"/>
            </a:xfrm>
          </p:grpSpPr>
          <p:sp>
            <p:nvSpPr>
              <p:cNvPr id="258" name="U-Turn Arrow 91">
                <a:extLst>
                  <a:ext uri="{FF2B5EF4-FFF2-40B4-BE49-F238E27FC236}">
                    <a16:creationId xmlns:a16="http://schemas.microsoft.com/office/drawing/2014/main" id="{61B37216-F6D5-5626-BAE8-650585A64FCA}"/>
                  </a:ext>
                </a:extLst>
              </p:cNvPr>
              <p:cNvSpPr/>
              <p:nvPr/>
            </p:nvSpPr>
            <p:spPr>
              <a:xfrm rot="5400000">
                <a:off x="4954443" y="3568987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  <p:sp>
            <p:nvSpPr>
              <p:cNvPr id="259" name="U-Turn Arrow 92">
                <a:extLst>
                  <a:ext uri="{FF2B5EF4-FFF2-40B4-BE49-F238E27FC236}">
                    <a16:creationId xmlns:a16="http://schemas.microsoft.com/office/drawing/2014/main" id="{C607A1A4-AF4C-8587-96C7-5156AF79903C}"/>
                  </a:ext>
                </a:extLst>
              </p:cNvPr>
              <p:cNvSpPr/>
              <p:nvPr/>
            </p:nvSpPr>
            <p:spPr>
              <a:xfrm rot="16200000">
                <a:off x="4714659" y="3530789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</p:grpSp>
      </p:grp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2E51569-774E-B711-D118-E731214CB44A}"/>
              </a:ext>
            </a:extLst>
          </p:cNvPr>
          <p:cNvCxnSpPr>
            <a:cxnSpLocks/>
          </p:cNvCxnSpPr>
          <p:nvPr/>
        </p:nvCxnSpPr>
        <p:spPr>
          <a:xfrm>
            <a:off x="2635585" y="2582962"/>
            <a:ext cx="1904510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CBB5087B-2CF2-9064-D8AE-AC36CCADB63B}"/>
              </a:ext>
            </a:extLst>
          </p:cNvPr>
          <p:cNvSpPr txBox="1"/>
          <p:nvPr/>
        </p:nvSpPr>
        <p:spPr>
          <a:xfrm>
            <a:off x="3264300" y="2635304"/>
            <a:ext cx="80996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Build &amp; Config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01EC2FB6-270D-6927-69BB-8F51FA07C57C}"/>
              </a:ext>
            </a:extLst>
          </p:cNvPr>
          <p:cNvCxnSpPr>
            <a:cxnSpLocks/>
          </p:cNvCxnSpPr>
          <p:nvPr/>
        </p:nvCxnSpPr>
        <p:spPr>
          <a:xfrm>
            <a:off x="6123122" y="2751738"/>
            <a:ext cx="714341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0DC9406D-8D9E-82B1-76DA-80E5F495081F}"/>
              </a:ext>
            </a:extLst>
          </p:cNvPr>
          <p:cNvSpPr txBox="1"/>
          <p:nvPr/>
        </p:nvSpPr>
        <p:spPr>
          <a:xfrm>
            <a:off x="6122324" y="2774144"/>
            <a:ext cx="7362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Payroll Testing</a:t>
            </a: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4063B487-4168-EDDF-5140-E1C76645F1EF}"/>
              </a:ext>
            </a:extLst>
          </p:cNvPr>
          <p:cNvCxnSpPr>
            <a:cxnSpLocks/>
          </p:cNvCxnSpPr>
          <p:nvPr/>
        </p:nvCxnSpPr>
        <p:spPr>
          <a:xfrm>
            <a:off x="6858607" y="2276072"/>
            <a:ext cx="358688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2A4A2C44-51C9-201F-D499-039BBE77DC23}"/>
              </a:ext>
            </a:extLst>
          </p:cNvPr>
          <p:cNvSpPr txBox="1"/>
          <p:nvPr/>
        </p:nvSpPr>
        <p:spPr>
          <a:xfrm>
            <a:off x="6642817" y="2349347"/>
            <a:ext cx="836709" cy="12311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Cutover</a:t>
            </a:r>
          </a:p>
        </p:txBody>
      </p:sp>
      <p:sp>
        <p:nvSpPr>
          <p:cNvPr id="276" name="Triangle 118">
            <a:extLst>
              <a:ext uri="{FF2B5EF4-FFF2-40B4-BE49-F238E27FC236}">
                <a16:creationId xmlns:a16="http://schemas.microsoft.com/office/drawing/2014/main" id="{FF272A02-92E7-E161-89E4-C045212602B6}"/>
              </a:ext>
            </a:extLst>
          </p:cNvPr>
          <p:cNvSpPr/>
          <p:nvPr/>
        </p:nvSpPr>
        <p:spPr>
          <a:xfrm>
            <a:off x="5244655" y="6285228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82DA64F0-1205-3573-5354-4AF40C27D566}"/>
              </a:ext>
            </a:extLst>
          </p:cNvPr>
          <p:cNvSpPr txBox="1"/>
          <p:nvPr/>
        </p:nvSpPr>
        <p:spPr>
          <a:xfrm>
            <a:off x="4780888" y="6416611"/>
            <a:ext cx="10871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27C</a:t>
            </a:r>
          </a:p>
        </p:txBody>
      </p:sp>
      <p:sp>
        <p:nvSpPr>
          <p:cNvPr id="278" name="Triangle 118">
            <a:extLst>
              <a:ext uri="{FF2B5EF4-FFF2-40B4-BE49-F238E27FC236}">
                <a16:creationId xmlns:a16="http://schemas.microsoft.com/office/drawing/2014/main" id="{4732A3E2-50F2-F352-D0AD-41E240882FA6}"/>
              </a:ext>
            </a:extLst>
          </p:cNvPr>
          <p:cNvSpPr/>
          <p:nvPr/>
        </p:nvSpPr>
        <p:spPr>
          <a:xfrm>
            <a:off x="6490768" y="6285228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E188F635-BB1A-B3C4-5E01-A9FD8291168A}"/>
              </a:ext>
            </a:extLst>
          </p:cNvPr>
          <p:cNvSpPr txBox="1"/>
          <p:nvPr/>
        </p:nvSpPr>
        <p:spPr>
          <a:xfrm>
            <a:off x="6029491" y="6416611"/>
            <a:ext cx="10871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27D</a:t>
            </a:r>
          </a:p>
        </p:txBody>
      </p:sp>
      <p:sp>
        <p:nvSpPr>
          <p:cNvPr id="280" name="Triangle 118">
            <a:extLst>
              <a:ext uri="{FF2B5EF4-FFF2-40B4-BE49-F238E27FC236}">
                <a16:creationId xmlns:a16="http://schemas.microsoft.com/office/drawing/2014/main" id="{3D8F41D1-DBE2-AF25-8302-638FE006013B}"/>
              </a:ext>
            </a:extLst>
          </p:cNvPr>
          <p:cNvSpPr/>
          <p:nvPr/>
        </p:nvSpPr>
        <p:spPr>
          <a:xfrm>
            <a:off x="7709788" y="6285228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0ABACA9B-F133-D73D-8947-9041A292B795}"/>
              </a:ext>
            </a:extLst>
          </p:cNvPr>
          <p:cNvSpPr txBox="1"/>
          <p:nvPr/>
        </p:nvSpPr>
        <p:spPr>
          <a:xfrm>
            <a:off x="7243558" y="6416611"/>
            <a:ext cx="10871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28A</a:t>
            </a:r>
          </a:p>
        </p:txBody>
      </p:sp>
      <p:sp>
        <p:nvSpPr>
          <p:cNvPr id="282" name="Triangle 118">
            <a:extLst>
              <a:ext uri="{FF2B5EF4-FFF2-40B4-BE49-F238E27FC236}">
                <a16:creationId xmlns:a16="http://schemas.microsoft.com/office/drawing/2014/main" id="{9105281E-7B32-7F10-C112-A175D5C8E0B1}"/>
              </a:ext>
            </a:extLst>
          </p:cNvPr>
          <p:cNvSpPr/>
          <p:nvPr/>
        </p:nvSpPr>
        <p:spPr>
          <a:xfrm>
            <a:off x="8991158" y="6284849"/>
            <a:ext cx="147180" cy="119298"/>
          </a:xfrm>
          <a:prstGeom prst="triangl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3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Helvetica Neue" charset="0"/>
              <a:cs typeface="Helvetica Neue" charset="0"/>
              <a:sym typeface="Times New Roman" charset="0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B3D6E92E-7951-B4F5-C1A4-7C202DD37C58}"/>
              </a:ext>
            </a:extLst>
          </p:cNvPr>
          <p:cNvSpPr txBox="1"/>
          <p:nvPr/>
        </p:nvSpPr>
        <p:spPr>
          <a:xfrm>
            <a:off x="8527879" y="6416611"/>
            <a:ext cx="10871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Rel 28B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C32A04E-E9A3-5282-E14B-2EC2D9EDEF26}"/>
              </a:ext>
            </a:extLst>
          </p:cNvPr>
          <p:cNvSpPr txBox="1"/>
          <p:nvPr/>
        </p:nvSpPr>
        <p:spPr>
          <a:xfrm>
            <a:off x="5533832" y="3101443"/>
            <a:ext cx="313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CNV3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0015E568-BDC3-4ECB-F272-924C3C5D4CA5}"/>
              </a:ext>
            </a:extLst>
          </p:cNvPr>
          <p:cNvSpPr txBox="1"/>
          <p:nvPr/>
        </p:nvSpPr>
        <p:spPr>
          <a:xfrm>
            <a:off x="6810528" y="3101443"/>
            <a:ext cx="3092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CNV4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0031C66-E5CC-F2AB-4E76-9A78E549BE70}"/>
              </a:ext>
            </a:extLst>
          </p:cNvPr>
          <p:cNvGrpSpPr/>
          <p:nvPr/>
        </p:nvGrpSpPr>
        <p:grpSpPr>
          <a:xfrm>
            <a:off x="3735326" y="2041378"/>
            <a:ext cx="684333" cy="479374"/>
            <a:chOff x="3091115" y="2256718"/>
            <a:chExt cx="702479" cy="402852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4CC77AD7-9A5A-C2CF-6A2B-99C75450F50B}"/>
                </a:ext>
              </a:extLst>
            </p:cNvPr>
            <p:cNvSpPr txBox="1"/>
            <p:nvPr/>
          </p:nvSpPr>
          <p:spPr>
            <a:xfrm>
              <a:off x="3167197" y="2556111"/>
              <a:ext cx="626397" cy="1034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5501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Times New Roman" charset="0"/>
                  <a:sym typeface="Helvetica Neue"/>
                </a:rPr>
                <a:t>CRP2</a:t>
              </a:r>
            </a:p>
          </p:txBody>
        </p: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57775CA9-3D82-4793-B814-DCEC51D13070}"/>
                </a:ext>
              </a:extLst>
            </p:cNvPr>
            <p:cNvGrpSpPr/>
            <p:nvPr/>
          </p:nvGrpSpPr>
          <p:grpSpPr>
            <a:xfrm>
              <a:off x="3091115" y="2256718"/>
              <a:ext cx="450404" cy="262149"/>
              <a:chOff x="4721325" y="3524123"/>
              <a:chExt cx="450404" cy="262149"/>
            </a:xfrm>
          </p:grpSpPr>
          <p:sp>
            <p:nvSpPr>
              <p:cNvPr id="290" name="U-Turn Arrow 91">
                <a:extLst>
                  <a:ext uri="{FF2B5EF4-FFF2-40B4-BE49-F238E27FC236}">
                    <a16:creationId xmlns:a16="http://schemas.microsoft.com/office/drawing/2014/main" id="{C4761989-E856-9C09-96CB-BB9AD1714B52}"/>
                  </a:ext>
                </a:extLst>
              </p:cNvPr>
              <p:cNvSpPr/>
              <p:nvPr/>
            </p:nvSpPr>
            <p:spPr>
              <a:xfrm rot="5400000">
                <a:off x="4954443" y="3568987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  <p:sp>
            <p:nvSpPr>
              <p:cNvPr id="291" name="U-Turn Arrow 92">
                <a:extLst>
                  <a:ext uri="{FF2B5EF4-FFF2-40B4-BE49-F238E27FC236}">
                    <a16:creationId xmlns:a16="http://schemas.microsoft.com/office/drawing/2014/main" id="{11E95F9E-9E2D-F0DC-AD15-E0AF5320F0AA}"/>
                  </a:ext>
                </a:extLst>
              </p:cNvPr>
              <p:cNvSpPr/>
              <p:nvPr/>
            </p:nvSpPr>
            <p:spPr>
              <a:xfrm rot="16200000">
                <a:off x="4714659" y="3530789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</p:grpSp>
      </p:grpSp>
      <p:sp>
        <p:nvSpPr>
          <p:cNvPr id="292" name="Rectangle 291">
            <a:extLst>
              <a:ext uri="{FF2B5EF4-FFF2-40B4-BE49-F238E27FC236}">
                <a16:creationId xmlns:a16="http://schemas.microsoft.com/office/drawing/2014/main" id="{DB2EC5B3-767A-4C7D-86C8-AB14C21A7F53}"/>
              </a:ext>
            </a:extLst>
          </p:cNvPr>
          <p:cNvSpPr/>
          <p:nvPr/>
        </p:nvSpPr>
        <p:spPr>
          <a:xfrm>
            <a:off x="683988" y="1567154"/>
            <a:ext cx="424745" cy="2051733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chemeClr val="accent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</a:rPr>
              <a:t>US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C89A41F-53D1-D3B0-160C-BFBF6A030B39}"/>
              </a:ext>
            </a:extLst>
          </p:cNvPr>
          <p:cNvSpPr/>
          <p:nvPr/>
        </p:nvSpPr>
        <p:spPr>
          <a:xfrm>
            <a:off x="683561" y="3661808"/>
            <a:ext cx="425172" cy="2051811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chemeClr val="accent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</a:rPr>
              <a:t>UK</a:t>
            </a:r>
          </a:p>
        </p:txBody>
      </p:sp>
      <p:sp>
        <p:nvSpPr>
          <p:cNvPr id="294" name="Pentagon 86">
            <a:extLst>
              <a:ext uri="{FF2B5EF4-FFF2-40B4-BE49-F238E27FC236}">
                <a16:creationId xmlns:a16="http://schemas.microsoft.com/office/drawing/2014/main" id="{E65232AB-05C1-BD59-8C84-70CB525F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289" y="1710224"/>
            <a:ext cx="1257427" cy="276963"/>
          </a:xfrm>
          <a:prstGeom prst="homePlate">
            <a:avLst>
              <a:gd name="adj" fmla="val 50138"/>
            </a:avLst>
          </a:prstGeom>
          <a:solidFill>
            <a:schemeClr val="accent3"/>
          </a:solidFill>
          <a:ln w="25400" cap="flat" cmpd="sng" algn="ctr">
            <a:solidFill>
              <a:schemeClr val="accent3"/>
            </a:solidFill>
            <a:prstDash val="solid"/>
          </a:ln>
          <a:effectLst/>
        </p:spPr>
        <p:txBody>
          <a:bodyPr rtlCol="0" anchor="ctr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218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Discovery &amp; Integrated</a:t>
            </a:r>
          </a:p>
          <a:p>
            <a:pPr marL="0" marR="0" lvl="0" indent="0" algn="ctr" defTabSz="1218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Design</a:t>
            </a:r>
          </a:p>
        </p:txBody>
      </p:sp>
      <p:sp>
        <p:nvSpPr>
          <p:cNvPr id="295" name="Pentagon 86">
            <a:extLst>
              <a:ext uri="{FF2B5EF4-FFF2-40B4-BE49-F238E27FC236}">
                <a16:creationId xmlns:a16="http://schemas.microsoft.com/office/drawing/2014/main" id="{5318B2BC-92FB-5FFF-E305-AE0FBD885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611" y="1709699"/>
            <a:ext cx="2994660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Co-Execute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Helvetica"/>
              <a:sym typeface="Helvetica" panose="020B0604020202020204" pitchFamily="34" charset="0"/>
            </a:endParaRPr>
          </a:p>
        </p:txBody>
      </p:sp>
      <p:sp>
        <p:nvSpPr>
          <p:cNvPr id="296" name="Pentagon 86">
            <a:extLst>
              <a:ext uri="{FF2B5EF4-FFF2-40B4-BE49-F238E27FC236}">
                <a16:creationId xmlns:a16="http://schemas.microsoft.com/office/drawing/2014/main" id="{5AC85292-5391-233F-6D26-1CF7853F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986" y="1709699"/>
            <a:ext cx="1584072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Co-Operate</a:t>
            </a:r>
          </a:p>
        </p:txBody>
      </p:sp>
      <p:sp>
        <p:nvSpPr>
          <p:cNvPr id="297" name="Pentagon 86">
            <a:extLst>
              <a:ext uri="{FF2B5EF4-FFF2-40B4-BE49-F238E27FC236}">
                <a16:creationId xmlns:a16="http://schemas.microsoft.com/office/drawing/2014/main" id="{AA1C8231-866C-7B18-EE62-2CA2F8E54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772" y="1710224"/>
            <a:ext cx="863187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Hypercare</a:t>
            </a:r>
          </a:p>
        </p:txBody>
      </p:sp>
      <p:sp>
        <p:nvSpPr>
          <p:cNvPr id="298" name="Isosceles Triangle 297">
            <a:extLst>
              <a:ext uri="{FF2B5EF4-FFF2-40B4-BE49-F238E27FC236}">
                <a16:creationId xmlns:a16="http://schemas.microsoft.com/office/drawing/2014/main" id="{6B2DE1AA-23A7-05DD-E935-8BEEC54C00F7}"/>
              </a:ext>
            </a:extLst>
          </p:cNvPr>
          <p:cNvSpPr/>
          <p:nvPr/>
        </p:nvSpPr>
        <p:spPr>
          <a:xfrm>
            <a:off x="4473429" y="290526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299" name="Isosceles Triangle 298">
            <a:extLst>
              <a:ext uri="{FF2B5EF4-FFF2-40B4-BE49-F238E27FC236}">
                <a16:creationId xmlns:a16="http://schemas.microsoft.com/office/drawing/2014/main" id="{57C60264-5D80-FDEE-807A-C1C32B6935FE}"/>
              </a:ext>
            </a:extLst>
          </p:cNvPr>
          <p:cNvSpPr/>
          <p:nvPr/>
        </p:nvSpPr>
        <p:spPr>
          <a:xfrm>
            <a:off x="5576648" y="290526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00" name="Isosceles Triangle 299">
            <a:extLst>
              <a:ext uri="{FF2B5EF4-FFF2-40B4-BE49-F238E27FC236}">
                <a16:creationId xmlns:a16="http://schemas.microsoft.com/office/drawing/2014/main" id="{8B86B5EF-F93F-5175-1D50-CF94952C5A53}"/>
              </a:ext>
            </a:extLst>
          </p:cNvPr>
          <p:cNvSpPr/>
          <p:nvPr/>
        </p:nvSpPr>
        <p:spPr>
          <a:xfrm>
            <a:off x="6831529" y="290526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02" name="Pentagon 86">
            <a:extLst>
              <a:ext uri="{FF2B5EF4-FFF2-40B4-BE49-F238E27FC236}">
                <a16:creationId xmlns:a16="http://schemas.microsoft.com/office/drawing/2014/main" id="{4FB66277-044C-6D81-F5C6-ADD82DE9D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611" y="3658820"/>
            <a:ext cx="2994660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Co-Execute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Helvetica"/>
              <a:sym typeface="Helvetica" panose="020B0604020202020204" pitchFamily="34" charset="0"/>
            </a:endParaRPr>
          </a:p>
        </p:txBody>
      </p:sp>
      <p:sp>
        <p:nvSpPr>
          <p:cNvPr id="303" name="Pentagon 86">
            <a:extLst>
              <a:ext uri="{FF2B5EF4-FFF2-40B4-BE49-F238E27FC236}">
                <a16:creationId xmlns:a16="http://schemas.microsoft.com/office/drawing/2014/main" id="{511D0234-9022-5343-E39D-38E0D533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275" y="3659370"/>
            <a:ext cx="1609735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Co-Operate</a:t>
            </a:r>
          </a:p>
        </p:txBody>
      </p:sp>
      <p:sp>
        <p:nvSpPr>
          <p:cNvPr id="304" name="Pentagon 86">
            <a:extLst>
              <a:ext uri="{FF2B5EF4-FFF2-40B4-BE49-F238E27FC236}">
                <a16:creationId xmlns:a16="http://schemas.microsoft.com/office/drawing/2014/main" id="{0115D204-1382-F5DB-DA4E-BABD757A1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937" y="3659370"/>
            <a:ext cx="878022" cy="277164"/>
          </a:xfrm>
          <a:prstGeom prst="homePlate">
            <a:avLst>
              <a:gd name="adj" fmla="val 50138"/>
            </a:avLst>
          </a:prstGeom>
          <a:solidFill>
            <a:schemeClr val="accent4"/>
          </a:solidFill>
          <a:ln>
            <a:solidFill>
              <a:schemeClr val="bg1"/>
            </a:solidFill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Hypercare</a:t>
            </a:r>
          </a:p>
        </p:txBody>
      </p:sp>
      <p:sp>
        <p:nvSpPr>
          <p:cNvPr id="315" name="Flowchart: Decision 314">
            <a:extLst>
              <a:ext uri="{FF2B5EF4-FFF2-40B4-BE49-F238E27FC236}">
                <a16:creationId xmlns:a16="http://schemas.microsoft.com/office/drawing/2014/main" id="{5621F89C-9419-C111-C57C-486D22CA9B64}"/>
              </a:ext>
            </a:extLst>
          </p:cNvPr>
          <p:cNvSpPr/>
          <p:nvPr/>
        </p:nvSpPr>
        <p:spPr bwMode="auto">
          <a:xfrm>
            <a:off x="6044274" y="2905268"/>
            <a:ext cx="143981" cy="143981"/>
          </a:xfrm>
          <a:prstGeom prst="flowChartDecision">
            <a:avLst/>
          </a:prstGeom>
          <a:solidFill>
            <a:schemeClr val="accent5"/>
          </a:solidFill>
          <a:ln w="19050">
            <a:solidFill>
              <a:schemeClr val="accent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55EC7C82-F545-4DF5-4085-C4F610C1558E}"/>
              </a:ext>
            </a:extLst>
          </p:cNvPr>
          <p:cNvSpPr txBox="1"/>
          <p:nvPr/>
        </p:nvSpPr>
        <p:spPr>
          <a:xfrm>
            <a:off x="6007890" y="3101443"/>
            <a:ext cx="5309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Delta CNV</a:t>
            </a:r>
          </a:p>
        </p:txBody>
      </p:sp>
      <p:sp>
        <p:nvSpPr>
          <p:cNvPr id="328" name="Title 1">
            <a:extLst>
              <a:ext uri="{FF2B5EF4-FFF2-40B4-BE49-F238E27FC236}">
                <a16:creationId xmlns:a16="http://schemas.microsoft.com/office/drawing/2014/main" id="{42443A57-814E-BF85-A2A1-0A4AE4E8BC06}"/>
              </a:ext>
            </a:extLst>
          </p:cNvPr>
          <p:cNvSpPr txBox="1">
            <a:spLocks/>
          </p:cNvSpPr>
          <p:nvPr/>
        </p:nvSpPr>
        <p:spPr>
          <a:xfrm>
            <a:off x="9955089" y="1826630"/>
            <a:ext cx="2020140" cy="4170478"/>
          </a:xfrm>
          <a:prstGeom prst="rect">
            <a:avLst/>
          </a:prstGeom>
        </p:spPr>
        <p:txBody>
          <a:bodyPr vert="horz" lIns="45714" tIns="22857" rIns="45714" bIns="22857" rtlCol="0" anchor="t">
            <a:noAutofit/>
          </a:bodyPr>
          <a:lstStyle>
            <a:lvl1pPr marL="0" indent="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prstClr val="black"/>
                </a:solidFill>
                <a:latin typeface="IBM Plex Sans" panose="020B0503050203000203" pitchFamily="34" charset="0"/>
                <a:ea typeface="+mn-ea"/>
                <a:cs typeface="Times New Roman" panose="02020603050405020304" pitchFamily="18" charset="0"/>
              </a:defRPr>
            </a:lvl1pPr>
            <a:lvl2pPr marL="685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09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51C4"/>
                </a:solidFill>
                <a:effectLst/>
                <a:uLnTx/>
                <a:uFillTx/>
                <a:latin typeface="IBM Plex Sans"/>
                <a:ea typeface="+mn-ea"/>
                <a:cs typeface="Times New Roman"/>
              </a:rPr>
              <a:t>After our discussion, we have reworked the proposed timeline to have both the US and UK Go Live in January 2028, an 18-month plan.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C4EE7D-2A8C-CBAA-CC0D-BCF6E3D65EB4}"/>
              </a:ext>
            </a:extLst>
          </p:cNvPr>
          <p:cNvCxnSpPr>
            <a:cxnSpLocks/>
          </p:cNvCxnSpPr>
          <p:nvPr/>
        </p:nvCxnSpPr>
        <p:spPr>
          <a:xfrm>
            <a:off x="5517536" y="4603919"/>
            <a:ext cx="578464" cy="3153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7D364B-67C4-7CDC-D9D3-0B6CB7B191B7}"/>
              </a:ext>
            </a:extLst>
          </p:cNvPr>
          <p:cNvSpPr txBox="1"/>
          <p:nvPr/>
        </p:nvSpPr>
        <p:spPr>
          <a:xfrm>
            <a:off x="5057654" y="4120791"/>
            <a:ext cx="83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TTT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3AE8F7-A428-6FD8-315C-7E089D591A3A}"/>
              </a:ext>
            </a:extLst>
          </p:cNvPr>
          <p:cNvGrpSpPr/>
          <p:nvPr/>
        </p:nvGrpSpPr>
        <p:grpSpPr>
          <a:xfrm>
            <a:off x="2988963" y="4071189"/>
            <a:ext cx="690545" cy="478454"/>
            <a:chOff x="3091115" y="2256718"/>
            <a:chExt cx="708858" cy="4020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E9997A-DA34-B6C2-76EE-A6638CDB157A}"/>
                </a:ext>
              </a:extLst>
            </p:cNvPr>
            <p:cNvSpPr txBox="1"/>
            <p:nvPr/>
          </p:nvSpPr>
          <p:spPr>
            <a:xfrm>
              <a:off x="3173576" y="2555338"/>
              <a:ext cx="626397" cy="1034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5501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Times New Roman" charset="0"/>
                  <a:sym typeface="Helvetica Neue"/>
                </a:rPr>
                <a:t>CRP1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8FF479-8942-925F-9E8F-98B88CC24665}"/>
                </a:ext>
              </a:extLst>
            </p:cNvPr>
            <p:cNvGrpSpPr/>
            <p:nvPr/>
          </p:nvGrpSpPr>
          <p:grpSpPr>
            <a:xfrm>
              <a:off x="3091115" y="2256718"/>
              <a:ext cx="450404" cy="262149"/>
              <a:chOff x="4721325" y="3524123"/>
              <a:chExt cx="450404" cy="262149"/>
            </a:xfrm>
          </p:grpSpPr>
          <p:sp>
            <p:nvSpPr>
              <p:cNvPr id="13" name="U-Turn Arrow 91">
                <a:extLst>
                  <a:ext uri="{FF2B5EF4-FFF2-40B4-BE49-F238E27FC236}">
                    <a16:creationId xmlns:a16="http://schemas.microsoft.com/office/drawing/2014/main" id="{66B5E3C4-4418-8477-3FDA-534BDE66541A}"/>
                  </a:ext>
                </a:extLst>
              </p:cNvPr>
              <p:cNvSpPr/>
              <p:nvPr/>
            </p:nvSpPr>
            <p:spPr>
              <a:xfrm rot="5400000">
                <a:off x="4954443" y="3568987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  <p:sp>
            <p:nvSpPr>
              <p:cNvPr id="14" name="U-Turn Arrow 92">
                <a:extLst>
                  <a:ext uri="{FF2B5EF4-FFF2-40B4-BE49-F238E27FC236}">
                    <a16:creationId xmlns:a16="http://schemas.microsoft.com/office/drawing/2014/main" id="{71827424-9590-93D0-60F2-93CAA36160E2}"/>
                  </a:ext>
                </a:extLst>
              </p:cNvPr>
              <p:cNvSpPr/>
              <p:nvPr/>
            </p:nvSpPr>
            <p:spPr>
              <a:xfrm rot="16200000">
                <a:off x="4714659" y="3530789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</p:grp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1059DF-2357-E7CC-E087-1BBA42E13FE9}"/>
              </a:ext>
            </a:extLst>
          </p:cNvPr>
          <p:cNvCxnSpPr>
            <a:cxnSpLocks/>
          </p:cNvCxnSpPr>
          <p:nvPr/>
        </p:nvCxnSpPr>
        <p:spPr>
          <a:xfrm>
            <a:off x="5303545" y="4299885"/>
            <a:ext cx="255024" cy="0"/>
          </a:xfrm>
          <a:prstGeom prst="line">
            <a:avLst/>
          </a:prstGeom>
          <a:ln w="19050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DF04170-6E9C-77C9-2883-6B0E3FA52A47}"/>
              </a:ext>
            </a:extLst>
          </p:cNvPr>
          <p:cNvSpPr/>
          <p:nvPr/>
        </p:nvSpPr>
        <p:spPr>
          <a:xfrm>
            <a:off x="3727895" y="499172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21854-2445-6E1D-FF5A-B62E7E093125}"/>
              </a:ext>
            </a:extLst>
          </p:cNvPr>
          <p:cNvSpPr txBox="1"/>
          <p:nvPr/>
        </p:nvSpPr>
        <p:spPr>
          <a:xfrm>
            <a:off x="3694218" y="5183772"/>
            <a:ext cx="313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B5455D-669F-F884-09C9-AACCD28E06FC}"/>
              </a:ext>
            </a:extLst>
          </p:cNvPr>
          <p:cNvCxnSpPr>
            <a:cxnSpLocks/>
          </p:cNvCxnSpPr>
          <p:nvPr/>
        </p:nvCxnSpPr>
        <p:spPr>
          <a:xfrm flipV="1">
            <a:off x="4588576" y="4604768"/>
            <a:ext cx="663098" cy="1755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7CF062-9171-C05F-0807-3A2BE84B17A8}"/>
              </a:ext>
            </a:extLst>
          </p:cNvPr>
          <p:cNvSpPr txBox="1"/>
          <p:nvPr/>
        </p:nvSpPr>
        <p:spPr>
          <a:xfrm>
            <a:off x="4700964" y="4626231"/>
            <a:ext cx="4815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SIT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D3C82-8958-2416-1C40-40A532A3EFB3}"/>
              </a:ext>
            </a:extLst>
          </p:cNvPr>
          <p:cNvSpPr txBox="1"/>
          <p:nvPr/>
        </p:nvSpPr>
        <p:spPr>
          <a:xfrm>
            <a:off x="5600498" y="4626251"/>
            <a:ext cx="4815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UAT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965234-8DEC-BBD3-1905-1DEC7C822DFE}"/>
              </a:ext>
            </a:extLst>
          </p:cNvPr>
          <p:cNvCxnSpPr>
            <a:cxnSpLocks/>
          </p:cNvCxnSpPr>
          <p:nvPr/>
        </p:nvCxnSpPr>
        <p:spPr>
          <a:xfrm>
            <a:off x="2595838" y="4604822"/>
            <a:ext cx="1950343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2D5588A-43A8-3AF5-6DD3-249C57AB5851}"/>
              </a:ext>
            </a:extLst>
          </p:cNvPr>
          <p:cNvSpPr txBox="1"/>
          <p:nvPr/>
        </p:nvSpPr>
        <p:spPr>
          <a:xfrm>
            <a:off x="3263431" y="4625845"/>
            <a:ext cx="80996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Build &amp; Config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2009DB-FACC-4FFC-4DF1-9943A32B4856}"/>
              </a:ext>
            </a:extLst>
          </p:cNvPr>
          <p:cNvCxnSpPr>
            <a:cxnSpLocks/>
          </p:cNvCxnSpPr>
          <p:nvPr/>
        </p:nvCxnSpPr>
        <p:spPr>
          <a:xfrm>
            <a:off x="6115208" y="4753042"/>
            <a:ext cx="714341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EDB1928-ED68-A8CC-ACD2-1E3847FB56E9}"/>
              </a:ext>
            </a:extLst>
          </p:cNvPr>
          <p:cNvSpPr txBox="1"/>
          <p:nvPr/>
        </p:nvSpPr>
        <p:spPr>
          <a:xfrm>
            <a:off x="6130735" y="4786879"/>
            <a:ext cx="7362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Payroll Testing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7D44C-4BBB-D854-11E6-B85C1774BBF2}"/>
              </a:ext>
            </a:extLst>
          </p:cNvPr>
          <p:cNvCxnSpPr>
            <a:cxnSpLocks/>
          </p:cNvCxnSpPr>
          <p:nvPr/>
        </p:nvCxnSpPr>
        <p:spPr>
          <a:xfrm>
            <a:off x="6877859" y="4332841"/>
            <a:ext cx="358688" cy="0"/>
          </a:xfrm>
          <a:prstGeom prst="line">
            <a:avLst/>
          </a:prstGeom>
          <a:ln w="28575">
            <a:solidFill>
              <a:schemeClr val="accent5"/>
            </a:solidFill>
            <a:headEnd type="diamond" w="lg" len="med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5B28F2-CE43-3373-32C2-435F01B4398E}"/>
              </a:ext>
            </a:extLst>
          </p:cNvPr>
          <p:cNvSpPr txBox="1"/>
          <p:nvPr/>
        </p:nvSpPr>
        <p:spPr>
          <a:xfrm>
            <a:off x="6651334" y="4389832"/>
            <a:ext cx="836709" cy="12311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5501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Cutover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9DDDB-73F7-0656-27E4-BD3892BB73F3}"/>
              </a:ext>
            </a:extLst>
          </p:cNvPr>
          <p:cNvSpPr txBox="1"/>
          <p:nvPr/>
        </p:nvSpPr>
        <p:spPr>
          <a:xfrm>
            <a:off x="5600131" y="5172021"/>
            <a:ext cx="313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76D6CD-1908-ED6F-A832-D683E71AC088}"/>
              </a:ext>
            </a:extLst>
          </p:cNvPr>
          <p:cNvGrpSpPr/>
          <p:nvPr/>
        </p:nvGrpSpPr>
        <p:grpSpPr>
          <a:xfrm>
            <a:off x="3735326" y="4071189"/>
            <a:ext cx="684333" cy="479374"/>
            <a:chOff x="3091115" y="2256718"/>
            <a:chExt cx="702479" cy="40285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D49E08-2FE3-AEC2-8F48-0423AB21C307}"/>
                </a:ext>
              </a:extLst>
            </p:cNvPr>
            <p:cNvSpPr txBox="1"/>
            <p:nvPr/>
          </p:nvSpPr>
          <p:spPr>
            <a:xfrm>
              <a:off x="3167197" y="2556111"/>
              <a:ext cx="626397" cy="1034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5501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Times New Roman" charset="0"/>
                  <a:sym typeface="Helvetica Neue"/>
                </a:rPr>
                <a:t>CRP2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9FE495-5287-E92F-0D52-ECEF1F2ACCC1}"/>
                </a:ext>
              </a:extLst>
            </p:cNvPr>
            <p:cNvGrpSpPr/>
            <p:nvPr/>
          </p:nvGrpSpPr>
          <p:grpSpPr>
            <a:xfrm>
              <a:off x="3091115" y="2256718"/>
              <a:ext cx="450404" cy="262149"/>
              <a:chOff x="4721325" y="3524123"/>
              <a:chExt cx="450404" cy="262149"/>
            </a:xfrm>
          </p:grpSpPr>
          <p:sp>
            <p:nvSpPr>
              <p:cNvPr id="32" name="U-Turn Arrow 91">
                <a:extLst>
                  <a:ext uri="{FF2B5EF4-FFF2-40B4-BE49-F238E27FC236}">
                    <a16:creationId xmlns:a16="http://schemas.microsoft.com/office/drawing/2014/main" id="{CCC8C27F-8EBD-AB79-C1CB-B8B408C9C7AD}"/>
                  </a:ext>
                </a:extLst>
              </p:cNvPr>
              <p:cNvSpPr/>
              <p:nvPr/>
            </p:nvSpPr>
            <p:spPr>
              <a:xfrm rot="5400000">
                <a:off x="4954443" y="3568987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  <p:sp>
            <p:nvSpPr>
              <p:cNvPr id="33" name="U-Turn Arrow 92">
                <a:extLst>
                  <a:ext uri="{FF2B5EF4-FFF2-40B4-BE49-F238E27FC236}">
                    <a16:creationId xmlns:a16="http://schemas.microsoft.com/office/drawing/2014/main" id="{EA9892D1-2741-0F8A-B844-FDF63AAFC1F7}"/>
                  </a:ext>
                </a:extLst>
              </p:cNvPr>
              <p:cNvSpPr/>
              <p:nvPr/>
            </p:nvSpPr>
            <p:spPr>
              <a:xfrm rot="16200000">
                <a:off x="4714659" y="3530789"/>
                <a:ext cx="223951" cy="210620"/>
              </a:xfrm>
              <a:prstGeom prst="uturnArrow">
                <a:avLst>
                  <a:gd name="adj1" fmla="val 11993"/>
                  <a:gd name="adj2" fmla="val 25000"/>
                  <a:gd name="adj3" fmla="val 42618"/>
                  <a:gd name="adj4" fmla="val 68968"/>
                  <a:gd name="adj5" fmla="val 100000"/>
                </a:avLst>
              </a:prstGeom>
              <a:solidFill>
                <a:schemeClr val="bg2"/>
              </a:solidFill>
              <a:ln>
                <a:solidFill>
                  <a:srgbClr val="009E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09690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  <a:sym typeface="Times New Roman" charset="0"/>
                </a:endParaRPr>
              </a:p>
            </p:txBody>
          </p:sp>
        </p:grpSp>
      </p:grp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CAC079D4-D7AD-8836-B323-EA7615FF7DA3}"/>
              </a:ext>
            </a:extLst>
          </p:cNvPr>
          <p:cNvSpPr/>
          <p:nvPr/>
        </p:nvSpPr>
        <p:spPr>
          <a:xfrm>
            <a:off x="4540095" y="499172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B73AF95-C333-9070-AE5D-DD769013855F}"/>
              </a:ext>
            </a:extLst>
          </p:cNvPr>
          <p:cNvSpPr/>
          <p:nvPr/>
        </p:nvSpPr>
        <p:spPr>
          <a:xfrm>
            <a:off x="5643314" y="4991728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420B4FE-B87A-F1E2-37E5-BCAF8F074FF7}"/>
              </a:ext>
            </a:extLst>
          </p:cNvPr>
          <p:cNvSpPr/>
          <p:nvPr/>
        </p:nvSpPr>
        <p:spPr>
          <a:xfrm>
            <a:off x="6898195" y="4991197"/>
            <a:ext cx="162977" cy="146132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A4F1B555-AA04-A4DC-5C9C-87ED527A234C}"/>
              </a:ext>
            </a:extLst>
          </p:cNvPr>
          <p:cNvSpPr/>
          <p:nvPr/>
        </p:nvSpPr>
        <p:spPr bwMode="auto">
          <a:xfrm>
            <a:off x="6047450" y="4991197"/>
            <a:ext cx="143981" cy="143981"/>
          </a:xfrm>
          <a:prstGeom prst="flowChartDecision">
            <a:avLst/>
          </a:prstGeom>
          <a:solidFill>
            <a:schemeClr val="accent5"/>
          </a:solidFill>
          <a:ln w="19050">
            <a:solidFill>
              <a:schemeClr val="accent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7525C6-5C13-752F-74DC-362F5EE8F9AA}"/>
              </a:ext>
            </a:extLst>
          </p:cNvPr>
          <p:cNvSpPr txBox="1"/>
          <p:nvPr/>
        </p:nvSpPr>
        <p:spPr>
          <a:xfrm>
            <a:off x="6025246" y="5183772"/>
            <a:ext cx="5309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Delta CNV</a:t>
            </a:r>
          </a:p>
        </p:txBody>
      </p:sp>
      <p:sp>
        <p:nvSpPr>
          <p:cNvPr id="39" name="Pentagon 86">
            <a:extLst>
              <a:ext uri="{FF2B5EF4-FFF2-40B4-BE49-F238E27FC236}">
                <a16:creationId xmlns:a16="http://schemas.microsoft.com/office/drawing/2014/main" id="{AD62D729-2F2F-5D18-1F32-6CDF1658A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390" y="5412642"/>
            <a:ext cx="935366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151C4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Change Strategy</a:t>
            </a:r>
          </a:p>
        </p:txBody>
      </p:sp>
      <p:sp>
        <p:nvSpPr>
          <p:cNvPr id="40" name="Pentagon 86">
            <a:extLst>
              <a:ext uri="{FF2B5EF4-FFF2-40B4-BE49-F238E27FC236}">
                <a16:creationId xmlns:a16="http://schemas.microsoft.com/office/drawing/2014/main" id="{378303D6-916C-7EE7-D646-D3456146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121" y="5412342"/>
            <a:ext cx="1087122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151C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Readiness Assessment</a:t>
            </a:r>
          </a:p>
        </p:txBody>
      </p:sp>
      <p:sp>
        <p:nvSpPr>
          <p:cNvPr id="41" name="Pentagon 86">
            <a:extLst>
              <a:ext uri="{FF2B5EF4-FFF2-40B4-BE49-F238E27FC236}">
                <a16:creationId xmlns:a16="http://schemas.microsoft.com/office/drawing/2014/main" id="{592002D0-395C-2E0C-7381-C57E3A397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634" y="5412174"/>
            <a:ext cx="1405301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151C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Communications Plan</a:t>
            </a:r>
          </a:p>
        </p:txBody>
      </p:sp>
      <p:sp>
        <p:nvSpPr>
          <p:cNvPr id="42" name="Pentagon 86">
            <a:extLst>
              <a:ext uri="{FF2B5EF4-FFF2-40B4-BE49-F238E27FC236}">
                <a16:creationId xmlns:a16="http://schemas.microsoft.com/office/drawing/2014/main" id="{17403632-01F7-C679-DD08-EC93E0DEB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414" y="5412342"/>
            <a:ext cx="1793742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151C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Change Impact Analysis</a:t>
            </a:r>
          </a:p>
        </p:txBody>
      </p:sp>
      <p:sp>
        <p:nvSpPr>
          <p:cNvPr id="43" name="Pentagon 86">
            <a:extLst>
              <a:ext uri="{FF2B5EF4-FFF2-40B4-BE49-F238E27FC236}">
                <a16:creationId xmlns:a16="http://schemas.microsoft.com/office/drawing/2014/main" id="{33B160DE-5C30-9A15-A318-AAA830747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05" y="5412342"/>
            <a:ext cx="776883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151C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Adoption Engmt </a:t>
            </a:r>
          </a:p>
        </p:txBody>
      </p:sp>
      <p:sp>
        <p:nvSpPr>
          <p:cNvPr id="44" name="Pentagon 86">
            <a:extLst>
              <a:ext uri="{FF2B5EF4-FFF2-40B4-BE49-F238E27FC236}">
                <a16:creationId xmlns:a16="http://schemas.microsoft.com/office/drawing/2014/main" id="{957E6C6E-D2A6-C0CF-2CD3-84F8C70B3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109" y="5767556"/>
            <a:ext cx="1100185" cy="277164"/>
          </a:xfrm>
          <a:prstGeom prst="homePlate">
            <a:avLst>
              <a:gd name="adj" fmla="val 5013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151C4"/>
            </a:solidFill>
            <a:prstDash val="dash"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60952" tIns="0" rIns="0" bIns="0" anchor="ctr" anchorCtr="1"/>
          <a:lstStyle>
            <a:lvl1pPr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8318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110872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151C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Helvetica"/>
                <a:sym typeface="Helvetica" panose="020B0604020202020204" pitchFamily="34" charset="0"/>
              </a:rPr>
              <a:t>Stakeholder Matrix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F7B783-2FF8-8108-1C2F-422DBE608E4B}"/>
              </a:ext>
            </a:extLst>
          </p:cNvPr>
          <p:cNvSpPr txBox="1"/>
          <p:nvPr/>
        </p:nvSpPr>
        <p:spPr>
          <a:xfrm>
            <a:off x="6855770" y="5183093"/>
            <a:ext cx="3092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BC598F-7A04-3994-7D8A-8B1DE5D351D8}"/>
              </a:ext>
            </a:extLst>
          </p:cNvPr>
          <p:cNvSpPr txBox="1"/>
          <p:nvPr/>
        </p:nvSpPr>
        <p:spPr>
          <a:xfrm>
            <a:off x="4520305" y="5183772"/>
            <a:ext cx="3441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5014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Times New Roman" charset="0"/>
                <a:sym typeface="Helvetica Neue"/>
              </a:rPr>
              <a:t>CNV2	</a:t>
            </a:r>
          </a:p>
        </p:txBody>
      </p: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DCFC7185-51CA-2E4E-2F46-24D464701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785" y="6475364"/>
            <a:ext cx="60915" cy="123111"/>
          </a:xfrm>
        </p:spPr>
        <p:txBody>
          <a:bodyPr/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/>
              </a:rPr>
              <a:pPr marL="0" marR="0" lvl="0" indent="0" algn="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43111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7_IBM presentation template">
  <a:themeElements>
    <a:clrScheme name="Pears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C004C"/>
      </a:accent1>
      <a:accent2>
        <a:srgbClr val="FF16BB"/>
      </a:accent2>
      <a:accent3>
        <a:srgbClr val="5151C3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IBM Plex Sans</vt:lpstr>
      <vt:lpstr>IBM Plex Sans Light</vt:lpstr>
      <vt:lpstr>7_IBM presentation template</vt:lpstr>
      <vt:lpstr>Plan on a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2026-10-15T12:32:52Z</dcterms:created>
  <dcterms:modified xsi:type="dcterms:W3CDTF">2026-10-15T12:33:15Z</dcterms:modified>
</cp:coreProperties>
</file>